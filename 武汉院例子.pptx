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93" autoAdjust="0"/>
    <p:restoredTop sz="94660"/>
  </p:normalViewPr>
  <p:slideViewPr>
    <p:cSldViewPr snapToGrid="0">
      <p:cViewPr varScale="1">
        <p:scale>
          <a:sx n="68" d="100"/>
          <a:sy n="68" d="100"/>
        </p:scale>
        <p:origin x="72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BE25-222D-1CD7-195A-910530DB4B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B76632-17FD-32C9-00F0-EEB18E6B3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FCC6B5-8B16-516C-B4F7-C96929C94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B82CE-8992-10A0-799B-C7D7A5D7E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944FA-0830-9202-E6F5-1E5158F30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995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5EB20-C293-0D45-9031-F11C5BB4A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05DAA0-B999-0CB2-BA25-0BC5596893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B2A21-1AF9-4C3E-51B7-B682C0A23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1B7A8-50FF-66A9-242D-BF1C939A9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205E0-ABCA-D74F-EC35-2F7890353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311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CC81E-841F-82B2-F06D-20ED2AF53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68A4D9-E341-F1BC-B39B-B4932DD3A9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9412E-7928-7AA7-186D-E5CDE39EB9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1F68E-3D83-0B0E-CD1C-9860E30F2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B515F-DAF3-7D7F-1C90-35603554B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581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9C41-8FF0-B8DC-CFF1-281EEFE3B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C4E5E-F304-032F-7A73-345CFAAA3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E9F1DE-3412-D49A-3440-B970630258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3A5BFD-0403-AD1F-836F-25D171243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11A72-AA07-0D07-606E-3F6238EBE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992ABE-8DCC-E34A-0F1E-5F6C0BBD1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4250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93DCB-2547-41BA-BFFF-C9759979D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7EDA5D-4536-39F7-A00D-E3AD0ABBB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EB2B33-9A79-6A6C-9C5C-7D379CC88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EF000F-522E-A906-A91D-7EE32985D8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186C14-2C66-102B-0AFB-A5321CCF80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43F99-6CAF-B761-61F5-F49563CEF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32AF5B-F75B-1C8D-D13B-C4F8B779E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EE4B63-1395-010F-E437-759F5D92F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737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87285-9065-2750-507E-54E18BF47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0CAD84-3528-671C-5AB9-11A57D2C9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5833D9-6588-4C70-7032-FB2FEB822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1BB8D4-EA27-DFE0-AD56-50BD61190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62945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7D2E80-4636-2A31-686D-28E50F466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1D2CB-3598-1346-4202-39E88068C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0A34F-0EB6-0D59-ACC3-E32538A7B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780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6ACB8-4909-98B5-8B9E-021EA532B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70A42E-7ACB-9B69-3892-CAE35B14E4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47A9A-B5DA-2316-3AAC-4C2FCBE5B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653FC4-7D47-2CAC-41F8-DD70851C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BC027-0BAF-C512-6B17-04D11B0E0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CFA5B5-7C02-FD1B-7755-A868A97FA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789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9A406-FC1F-246A-FE61-46B65D8D1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9A1B02-2DD0-D5EC-461B-2537B9A9E3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EB72EE-B7BE-73C4-4472-E1035718D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68C479-D247-7763-9DFD-ECD6FFB673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27D62-4CE9-2C57-223B-94AC2E14F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0879D-7594-DDEB-C92E-8672D9157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8371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861F5-CD6B-CD3F-DB92-810743E0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A4F13-6BD5-9867-100A-5DDF177927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085E8-80C5-0896-196D-10A0AF014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9A5A7-A36D-93D2-E059-AB507460A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0032A-F05D-95BE-4E22-6F500DFD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4529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19DD22-0601-27B2-0B70-F08884D834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044DEF-D44B-C5C2-9E59-2D37E80307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BFAF0-ADA0-F4A3-4A5E-303149F9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7C411-CD9D-2F5D-E021-06F5C273D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7B7DF-1F38-4F59-9D3E-C588D77A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634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3105C4-A120-07F8-DB93-E7D5B67AE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6CC93A-BEAF-7B85-4396-55023FDEC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8C6B8F-4A84-2EC4-002F-C4EDB2EBB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D6CD51-25BB-4214-9F47-FABD2AC37322}" type="datetimeFigureOut">
              <a:rPr lang="en-AU" smtClean="0"/>
              <a:t>21/03/2026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8549A-1E35-6E2D-333B-E3662F3BF1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ECEED-FBDD-8A07-E4B6-F6490CDCE6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04E8E-BA77-48A6-933D-7F48C7A19E2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78664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DC940-2831-2F49-3CD2-B65D253472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3A3D6D-E3B8-3C7B-7248-55D64E6C5C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94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D0A378-65B8-9EF5-25D4-C922FEA748B9}"/>
              </a:ext>
            </a:extLst>
          </p:cNvPr>
          <p:cNvSpPr txBox="1"/>
          <p:nvPr/>
        </p:nvSpPr>
        <p:spPr>
          <a:xfrm>
            <a:off x="936886" y="1431561"/>
            <a:ext cx="992611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武汉测绘院使用感知摄影测量技术</a:t>
            </a:r>
            <a:endParaRPr lang="en-AU" altLang="zh-CN" sz="4800" dirty="0"/>
          </a:p>
          <a:p>
            <a:r>
              <a:rPr lang="zh-CN" altLang="en-US" sz="4800" dirty="0"/>
              <a:t>对徕卡</a:t>
            </a:r>
            <a:r>
              <a:rPr lang="en-US" altLang="zh-CN" sz="4800" dirty="0"/>
              <a:t>City Mapper-2</a:t>
            </a:r>
            <a:r>
              <a:rPr lang="zh-CN" altLang="en-US" sz="4800" dirty="0"/>
              <a:t>影像的分析例子</a:t>
            </a:r>
            <a:endParaRPr lang="en-AU" sz="4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604758-D1A8-D1D4-47F3-1BED260F220B}"/>
              </a:ext>
            </a:extLst>
          </p:cNvPr>
          <p:cNvSpPr txBox="1"/>
          <p:nvPr/>
        </p:nvSpPr>
        <p:spPr>
          <a:xfrm>
            <a:off x="936886" y="3729221"/>
            <a:ext cx="1007667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感知摄影测量极大程度上依赖近红外进行各种分析。前面的例子可以看出，近红外是植被提取的主要信息源。除此以外，我们可以在很多场合充分使用近红外波段来辅助我们的工作。</a:t>
            </a:r>
            <a:endParaRPr lang="en-AU" altLang="zh-CN" sz="2800" dirty="0"/>
          </a:p>
          <a:p>
            <a:endParaRPr lang="en-AU" sz="2800" dirty="0"/>
          </a:p>
          <a:p>
            <a:r>
              <a:rPr lang="zh-CN" altLang="en-US" sz="2800" dirty="0"/>
              <a:t>我们以武汉测绘院的</a:t>
            </a:r>
            <a:r>
              <a:rPr lang="en-US" altLang="zh-CN" sz="2800" dirty="0"/>
              <a:t>CM2</a:t>
            </a:r>
            <a:r>
              <a:rPr lang="zh-CN" altLang="en-US" sz="2800" dirty="0"/>
              <a:t>数据作为例子进一步展示。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366150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27535-C168-1086-4D68-F7B33BC85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C6C97-2BAB-62C8-5D4E-AD5435561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66" y="3333"/>
            <a:ext cx="3330416" cy="336708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FBF23E-7F2E-93BC-1E8A-7C6F3A890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0706" y="5076"/>
            <a:ext cx="3333750" cy="33704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223A2D0-AC5F-B7B9-D1DC-70F0208A7E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0901" y="-1"/>
            <a:ext cx="3333750" cy="33704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266E2D-225A-7CBD-C8BA-268AA9C0B2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5800" y="3487580"/>
            <a:ext cx="3333750" cy="337042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22EA162-6B77-D58D-20A9-569C56C89A72}"/>
              </a:ext>
            </a:extLst>
          </p:cNvPr>
          <p:cNvSpPr txBox="1"/>
          <p:nvPr/>
        </p:nvSpPr>
        <p:spPr>
          <a:xfrm>
            <a:off x="4199206" y="4158286"/>
            <a:ext cx="77512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航空影像的阴影将是感知摄影测量面临的挑战之一。左上角影像是</a:t>
            </a:r>
            <a:r>
              <a:rPr lang="en-AU" altLang="zh-CN" sz="2000" dirty="0"/>
              <a:t>44 </a:t>
            </a:r>
            <a:r>
              <a:rPr lang="zh-CN" altLang="en-US" sz="2000" dirty="0"/>
              <a:t>张航空影像正射纠正辐射校正后拼接图。</a:t>
            </a:r>
            <a:endParaRPr lang="en-AU" altLang="zh-CN" sz="2000" dirty="0"/>
          </a:p>
          <a:p>
            <a:endParaRPr lang="en-AU" altLang="zh-CN" sz="2000" dirty="0"/>
          </a:p>
          <a:p>
            <a:r>
              <a:rPr lang="zh-CN" altLang="en-US" sz="2000" dirty="0"/>
              <a:t>如果用</a:t>
            </a:r>
            <a:r>
              <a:rPr lang="en-US" altLang="zh-CN" sz="2000" dirty="0"/>
              <a:t>RGB</a:t>
            </a:r>
            <a:r>
              <a:rPr lang="zh-CN" altLang="en-US" sz="2000" dirty="0"/>
              <a:t>提取阴影，阴影面积占据</a:t>
            </a:r>
            <a:r>
              <a:rPr lang="en-AU" altLang="zh-CN" sz="2000" b="1" dirty="0"/>
              <a:t>67%</a:t>
            </a:r>
            <a:r>
              <a:rPr lang="zh-CN" altLang="en-US" sz="2000" dirty="0"/>
              <a:t>，如果加入近红外波段，提取得阴影面积为</a:t>
            </a:r>
            <a:r>
              <a:rPr lang="en-AU" altLang="zh-CN" sz="2000" b="1" dirty="0"/>
              <a:t>44% </a:t>
            </a:r>
            <a:r>
              <a:rPr lang="zh-CN" altLang="en-US" sz="2000" dirty="0"/>
              <a:t>，两者差别高达</a:t>
            </a:r>
            <a:r>
              <a:rPr lang="en-AU" altLang="zh-CN" sz="2000" b="1" dirty="0"/>
              <a:t>23%</a:t>
            </a:r>
            <a:r>
              <a:rPr lang="zh-CN" altLang="en-US" sz="2000" dirty="0"/>
              <a:t>。仔细察看，用近红外辅助提取得阴影更可靠。（</a:t>
            </a:r>
            <a:r>
              <a:rPr lang="zh-CN" altLang="en-US" sz="2000" b="1" dirty="0"/>
              <a:t>顺便说一下，这是在较为理想的航拍条件下大城市典型场景，即最佳太阳高度角前后拍摄的</a:t>
            </a:r>
            <a:r>
              <a:rPr lang="zh-CN" altLang="en-US" sz="2000" dirty="0"/>
              <a:t>）</a:t>
            </a:r>
            <a:endParaRPr lang="en-A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02F66F-C73F-C492-8F26-612F5998F961}"/>
              </a:ext>
            </a:extLst>
          </p:cNvPr>
          <p:cNvSpPr txBox="1"/>
          <p:nvPr/>
        </p:nvSpPr>
        <p:spPr>
          <a:xfrm>
            <a:off x="4408159" y="3429000"/>
            <a:ext cx="3638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单纯用</a:t>
            </a:r>
            <a:r>
              <a:rPr lang="en-US" altLang="zh-CN" sz="2000" dirty="0"/>
              <a:t>RGB</a:t>
            </a:r>
            <a:r>
              <a:rPr lang="zh-CN" altLang="en-US" sz="2000" dirty="0"/>
              <a:t>提取的阴影（绿色）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0ADE8E-62A8-0C6F-B389-9D40B79A13DE}"/>
              </a:ext>
            </a:extLst>
          </p:cNvPr>
          <p:cNvSpPr txBox="1"/>
          <p:nvPr/>
        </p:nvSpPr>
        <p:spPr>
          <a:xfrm>
            <a:off x="8063616" y="3487580"/>
            <a:ext cx="38283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RGB</a:t>
            </a:r>
            <a:r>
              <a:rPr lang="zh-CN" altLang="en-US" sz="2000" dirty="0"/>
              <a:t>加近红外提取的阴影（绿色）</a:t>
            </a:r>
            <a:endParaRPr lang="en-AU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9799B0-3A2D-86D6-C18C-F685AAEAFA7B}"/>
              </a:ext>
            </a:extLst>
          </p:cNvPr>
          <p:cNvSpPr txBox="1"/>
          <p:nvPr/>
        </p:nvSpPr>
        <p:spPr>
          <a:xfrm rot="16200000">
            <a:off x="1815829" y="4722080"/>
            <a:ext cx="35572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红色是用</a:t>
            </a:r>
            <a:r>
              <a:rPr lang="en-US" altLang="zh-CN" sz="2000" dirty="0"/>
              <a:t>RGB</a:t>
            </a:r>
            <a:r>
              <a:rPr lang="zh-CN" altLang="en-US" sz="2000" dirty="0"/>
              <a:t>提取的错误阴影，把大部分深色植被归为阴影！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51148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E51879-22D8-CFAB-6CFB-8022B7C0F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5715000" cy="57778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08D251D-06B1-E644-B291-FD27C8DB16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0"/>
            <a:ext cx="5715000" cy="5777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B4B81DF-FCC5-E24E-44CD-A5142EA0730C}"/>
              </a:ext>
            </a:extLst>
          </p:cNvPr>
          <p:cNvSpPr txBox="1"/>
          <p:nvPr/>
        </p:nvSpPr>
        <p:spPr>
          <a:xfrm>
            <a:off x="977527" y="5904914"/>
            <a:ext cx="36388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单纯用</a:t>
            </a:r>
            <a:r>
              <a:rPr lang="en-US" altLang="zh-CN" sz="2000" dirty="0"/>
              <a:t>RGB</a:t>
            </a:r>
            <a:r>
              <a:rPr lang="zh-CN" altLang="en-US" sz="2000" dirty="0"/>
              <a:t>提取的阴影（绿色）</a:t>
            </a:r>
            <a:endParaRPr lang="en-A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510FE8-A632-497E-9A55-391ABE5C6F6D}"/>
              </a:ext>
            </a:extLst>
          </p:cNvPr>
          <p:cNvSpPr txBox="1"/>
          <p:nvPr/>
        </p:nvSpPr>
        <p:spPr>
          <a:xfrm>
            <a:off x="7135124" y="5904914"/>
            <a:ext cx="3959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RGB</a:t>
            </a:r>
            <a:r>
              <a:rPr lang="zh-CN" altLang="en-US" sz="2000" dirty="0"/>
              <a:t>加近红外提取的阴影（绿色）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987861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CDA88-FC61-9642-15F9-FB0376D77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77E89-5354-400C-F8E8-284903A2FB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5709285" cy="57778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D39B4D-CAE5-DA44-E8AA-27AF5E7CA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"/>
            <a:ext cx="5715000" cy="577786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DEB688F-88D5-092C-7A42-9A9340A975FA}"/>
              </a:ext>
            </a:extLst>
          </p:cNvPr>
          <p:cNvSpPr txBox="1"/>
          <p:nvPr/>
        </p:nvSpPr>
        <p:spPr>
          <a:xfrm>
            <a:off x="977527" y="5904914"/>
            <a:ext cx="3088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RGB</a:t>
            </a:r>
            <a:r>
              <a:rPr lang="zh-CN" altLang="en-US" sz="2000" dirty="0"/>
              <a:t>可见光显示的影像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6EC3F7-CA96-E94B-457C-350D8C6619ED}"/>
              </a:ext>
            </a:extLst>
          </p:cNvPr>
          <p:cNvSpPr txBox="1"/>
          <p:nvPr/>
        </p:nvSpPr>
        <p:spPr>
          <a:xfrm>
            <a:off x="6569612" y="5951081"/>
            <a:ext cx="53316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红色是用</a:t>
            </a:r>
            <a:r>
              <a:rPr lang="en-US" altLang="zh-CN" sz="2000" dirty="0"/>
              <a:t>RGB</a:t>
            </a:r>
            <a:r>
              <a:rPr lang="zh-CN" altLang="en-US" sz="2000" dirty="0"/>
              <a:t>提取的错误阴影，把大部分深色植被归为阴影，绿色是</a:t>
            </a:r>
            <a:r>
              <a:rPr lang="en-US" altLang="zh-CN" sz="2000" dirty="0"/>
              <a:t>RGB</a:t>
            </a:r>
            <a:r>
              <a:rPr lang="zh-CN" altLang="en-US" sz="2000" dirty="0"/>
              <a:t>没有发现的阴影。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10336469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4C84A-AD96-6314-E5CC-59BB7C019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A04FE1-5F9F-85C9-0A9D-0DA0C136A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"/>
            <a:ext cx="5709285" cy="57778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8781BD-D2A6-D586-7391-1B6F2C26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2715" y="0"/>
            <a:ext cx="5709285" cy="57721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973E772-E7A2-7086-C16C-B275EE73EAE1}"/>
              </a:ext>
            </a:extLst>
          </p:cNvPr>
          <p:cNvSpPr txBox="1"/>
          <p:nvPr/>
        </p:nvSpPr>
        <p:spPr>
          <a:xfrm>
            <a:off x="977527" y="5904914"/>
            <a:ext cx="30880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RGB</a:t>
            </a:r>
            <a:r>
              <a:rPr lang="zh-CN" altLang="en-US" sz="2000" dirty="0"/>
              <a:t>可见光显示的影像</a:t>
            </a:r>
            <a:endParaRPr lang="en-AU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81CC57-8ED5-FA3E-40A3-16B63C5232B7}"/>
              </a:ext>
            </a:extLst>
          </p:cNvPr>
          <p:cNvSpPr txBox="1"/>
          <p:nvPr/>
        </p:nvSpPr>
        <p:spPr>
          <a:xfrm>
            <a:off x="5992837" y="5951081"/>
            <a:ext cx="6042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如果不对阴影进行复杂处理，</a:t>
            </a:r>
            <a:r>
              <a:rPr lang="zh-CN" altLang="en-US" sz="2000" b="1" dirty="0"/>
              <a:t>利用近红外波段可以快速对阴影内的信息进行增强</a:t>
            </a:r>
            <a:r>
              <a:rPr lang="zh-CN" altLang="en-US" sz="2000" dirty="0"/>
              <a:t>。（近红外的又一好处）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43837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EBC54-6F70-CBEE-8378-DE0A81B3E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CF6921-239F-63AE-CD1A-BAB3CA8B5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86838" cy="673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801972A-6F0C-5AFC-3D0E-FB6C7C5A4A6A}"/>
              </a:ext>
            </a:extLst>
          </p:cNvPr>
          <p:cNvSpPr txBox="1"/>
          <p:nvPr/>
        </p:nvSpPr>
        <p:spPr>
          <a:xfrm>
            <a:off x="9214337" y="1442386"/>
            <a:ext cx="280650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大部分航空影像只有可见光红绿蓝三个波段，甚至只有有限的</a:t>
            </a:r>
            <a:r>
              <a:rPr lang="en-AU" altLang="zh-CN" sz="2000" dirty="0"/>
              <a:t>256</a:t>
            </a:r>
            <a:r>
              <a:rPr lang="zh-CN" altLang="en-US" sz="2000" dirty="0"/>
              <a:t>个灰度等级，面对各种影像处理显得力不从心，甚至无能为力。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3020515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C6D2D-F82D-4660-0BE0-CF680AC5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C3F769-FBD7-375C-60C1-C878B1CE09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86838" cy="673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C16DDD-2CE2-A9BD-0C6E-52CDBD20A5EF}"/>
              </a:ext>
            </a:extLst>
          </p:cNvPr>
          <p:cNvSpPr txBox="1"/>
          <p:nvPr/>
        </p:nvSpPr>
        <p:spPr>
          <a:xfrm>
            <a:off x="9214337" y="1442386"/>
            <a:ext cx="280650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由于未能获取所需的波段和灰度量化范围，将花费大量的人力资源进行后期修补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2019853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21448-9EE5-22FA-64FA-DBF9E4EBC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1FB28B-6751-5CD1-BC52-0A3126AC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986838" cy="673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F1183B-3749-B2BA-9F64-634F793CBEF7}"/>
              </a:ext>
            </a:extLst>
          </p:cNvPr>
          <p:cNvSpPr txBox="1"/>
          <p:nvPr/>
        </p:nvSpPr>
        <p:spPr>
          <a:xfrm>
            <a:off x="9214337" y="1442386"/>
            <a:ext cx="2806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结果可能仍然不尽人意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03562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D5050-ECF6-A0BD-DE8A-20F72A98C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34131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570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surface time</dc:creator>
  <cp:lastModifiedBy>surface time</cp:lastModifiedBy>
  <cp:revision>7</cp:revision>
  <dcterms:created xsi:type="dcterms:W3CDTF">2026-03-21T14:39:24Z</dcterms:created>
  <dcterms:modified xsi:type="dcterms:W3CDTF">2026-03-21T14:51:19Z</dcterms:modified>
</cp:coreProperties>
</file>